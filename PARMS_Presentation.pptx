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7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3D7A5A">
              <a:alpha val="40000"/>
            </a:srgbClr>
          </a:solidFill>
          <a:ln w="12700">
            <a:solidFill>
              <a:srgbClr val="3D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3D7A5A">
              <a:alpha val="40000"/>
            </a:srgbClr>
          </a:solidFill>
          <a:ln w="12700">
            <a:solidFill>
              <a:srgbClr val="3D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292608" cy="292608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182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 ·  Real-time Occupancy  ·  Automated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5029200" cy="22860"/>
          </a:xfrm>
          <a:prstGeom prst="rect">
            <a:avLst/>
          </a:prstGeom>
          <a:solidFill>
            <a:srgbClr val="C5E8D5">
              <a:alpha val="60000"/>
            </a:srgbClr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3749040" cy="658368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2648" y="2779776"/>
            <a:ext cx="438912" cy="438912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CYUZUZO PACIFIQUE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447288"/>
            <a:ext cx="3749040" cy="658368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" y="3557016"/>
            <a:ext cx="438912" cy="438912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ISHIMWE Marie Pauline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776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36008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84648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36008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8464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3776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80560"/>
            <a:ext cx="2560320" cy="475488"/>
          </a:xfrm>
          <a:prstGeom prst="rect">
            <a:avLst/>
          </a:prstGeom>
          <a:solidFill>
            <a:srgbClr val="1A4A2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Computer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5143500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58200" y="164592"/>
            <a:ext cx="292608" cy="292608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582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778240" y="182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600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4389120"/>
            <a:ext cx="548640" cy="548640"/>
          </a:xfrm>
          <a:prstGeom prst="ellipse">
            <a:avLst/>
          </a:prstGeom>
          <a:solidFill>
            <a:srgbClr val="3D7A5A">
              <a:alpha val="50000"/>
            </a:srgbClr>
          </a:solidFill>
          <a:ln w="12700">
            <a:solidFill>
              <a:srgbClr val="3D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347472"/>
            <a:ext cx="5989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347472"/>
            <a:ext cx="64008" cy="74980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80944" y="502920"/>
            <a:ext cx="438912" cy="438912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80944" y="502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438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7315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deployment &amp; data 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261872"/>
            <a:ext cx="5989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4640" y="1261872"/>
            <a:ext cx="64008" cy="74980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80944" y="1417320"/>
            <a:ext cx="438912" cy="438912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8094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7872" y="1353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Built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47872" y="1645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LP recognition, notifications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2176272"/>
            <a:ext cx="5989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4640" y="2176272"/>
            <a:ext cx="64008" cy="74980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80944" y="2331720"/>
            <a:ext cx="438912" cy="438912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80944" y="2331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47872" y="2267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47872" y="25603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EasyOCR, Haar Cascade, Random Forest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090672"/>
            <a:ext cx="5989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34640" y="3090672"/>
            <a:ext cx="64008" cy="74980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80944" y="3246120"/>
            <a:ext cx="438912" cy="438912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80944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47872" y="3182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 / Not Done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47872" y="34747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features &amp; future roadmap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4005072"/>
            <a:ext cx="5989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34640" y="4005072"/>
            <a:ext cx="64008" cy="74980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80944" y="4160520"/>
            <a:ext cx="438912" cy="438912"/>
          </a:xfrm>
          <a:prstGeom prst="ellipse">
            <a:avLst/>
          </a:prstGeom>
          <a:solidFill>
            <a:srgbClr val="E8F5EE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80944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47872" y="4096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47872" y="43891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parking session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64592"/>
            <a:ext cx="292608" cy="292608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582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8686800" cy="676656"/>
          </a:xfrm>
          <a:prstGeom prst="rect">
            <a:avLst/>
          </a:prstGeom>
          <a:solidFill>
            <a:srgbClr val="1A4A2E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1097280" cy="676656"/>
          </a:xfrm>
          <a:prstGeom prst="rect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229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9784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(HTML / CSS / JS)  ·  User Dashboard  ·  Admin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8686800" cy="676656"/>
          </a:xfrm>
          <a:prstGeom prst="rect">
            <a:avLst/>
          </a:prstGeom>
          <a:solidFill>
            <a:srgbClr val="2C5F47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1627632"/>
            <a:ext cx="1097280" cy="676656"/>
          </a:xfrm>
          <a:prstGeom prst="rect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627632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1783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5.1 (Python)  ·  REST APIs  ·  Views  ·  Business Logic  ·  CSRF 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432304"/>
            <a:ext cx="8686800" cy="676656"/>
          </a:xfrm>
          <a:prstGeom prst="rect">
            <a:avLst/>
          </a:prstGeom>
          <a:solidFill>
            <a:srgbClr val="3D7A5A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432304"/>
            <a:ext cx="1097280" cy="676656"/>
          </a:xfrm>
          <a:prstGeom prst="rect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2432304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587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(Render production)  ·  SQLite (local development)  ·  6 migrations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236976"/>
            <a:ext cx="8686800" cy="676656"/>
          </a:xfrm>
          <a:prstGeom prst="rect">
            <a:avLst/>
          </a:prstGeom>
          <a:solidFill>
            <a:srgbClr val="C5E8D5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3236976"/>
            <a:ext cx="1097280" cy="67665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323697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33924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+ Haar Cascade (License Plate Recognition)  ·  scikit-learn Random Forest (Occupancy Prediction)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041648"/>
            <a:ext cx="8686800" cy="676656"/>
          </a:xfrm>
          <a:prstGeom prst="rect">
            <a:avLst/>
          </a:prstGeom>
          <a:solidFill>
            <a:srgbClr val="F7F9F8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4041648"/>
            <a:ext cx="1097280" cy="67665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4041648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419709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(hosting + PostgreSQL)  ·  Cloudinary (media / profile photos)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873752"/>
            <a:ext cx="8686800" cy="9144"/>
          </a:xfrm>
          <a:prstGeom prst="rect">
            <a:avLst/>
          </a:prstGeom>
          <a:solidFill>
            <a:srgbClr val="DDE3E0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Plate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938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590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Space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242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894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Scans Plate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546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98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Lookup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50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50200" y="4901184"/>
            <a:ext cx="96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Exit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64592"/>
            <a:ext cx="292608" cy="292608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582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4160520" cy="40233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4980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316736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with mandatory licence plate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600200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545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plate recognition (EasyOCR — 38–48% exact match)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883664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LP scan → session lookup → payment confirmation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167128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fee calculation (duration × hourly rate)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slot occupancy tracking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734056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booking flow (lots → pick space → confirm)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017520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 (booking, session end, nearly full)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300984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 &amp; QR code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584448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with Cloudinary persistence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867912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(vehicles, lots, tickets, users, ML)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151376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ML-powered lot recommendations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4434840"/>
            <a:ext cx="146304" cy="146304"/>
          </a:xfrm>
          <a:prstGeom prst="ellipse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4379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Africa/Kigali timezone across the whole system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749808"/>
            <a:ext cx="416052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74980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 FUTURE ROADMAP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117043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73752" y="134416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93208" y="1261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 / iOS)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73752" y="1691640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93208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gate integration (physical barrier + camera)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2039112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93208" y="1956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(MTN MoMo API, card processing)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73752" y="238658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93208" y="2304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updates (currently polling)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73752" y="2734056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93208" y="2651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/ multi-campus support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8600" y="4572000"/>
            <a:ext cx="1965960" cy="49377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01752" y="459028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50392" y="460857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423160" y="4572000"/>
            <a:ext cx="1965960" cy="49377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496312" y="459028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044952" y="460857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4572000"/>
            <a:ext cx="1965960" cy="49377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90872" y="459028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239512" y="460857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12280" y="4572000"/>
            <a:ext cx="1965960" cy="493776"/>
          </a:xfrm>
          <a:prstGeom prst="rect">
            <a:avLst/>
          </a:prstGeom>
          <a:solidFill>
            <a:srgbClr val="2C5F47"/>
          </a:solidFill>
          <a:ln w="12700">
            <a:solidFill>
              <a:srgbClr val="2C5F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85432" y="459028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434072" y="460857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3D7A5A">
              <a:alpha val="35000"/>
            </a:srgbClr>
          </a:solidFill>
          <a:ln w="12700">
            <a:solidFill>
              <a:srgbClr val="3D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3200400"/>
            <a:ext cx="3474720" cy="3474720"/>
          </a:xfrm>
          <a:prstGeom prst="ellipse">
            <a:avLst/>
          </a:prstGeom>
          <a:solidFill>
            <a:srgbClr val="3D7A5A">
              <a:alpha val="35000"/>
            </a:srgbClr>
          </a:solidFill>
          <a:ln w="12700">
            <a:solidFill>
              <a:srgbClr val="3D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292608" cy="292608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182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parking session walkthrough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206240" cy="914400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2336" y="1618488"/>
            <a:ext cx="512064" cy="512064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15087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a Vehicle Plate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1801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register with a mandatory licence plate → Vehicle record created instantly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914400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" y="2761488"/>
            <a:ext cx="512064" cy="512064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26517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Lots &amp; Book a Space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944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recommendations → pick a space → booking confirmed + notification sent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06240" cy="914400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" y="3904488"/>
            <a:ext cx="512064" cy="512064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37947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Scans Vehicle Plate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4087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capture photo → EasyOCR reads plate → system auto-finds the active session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417320"/>
            <a:ext cx="4206240" cy="914400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37176" y="1618488"/>
            <a:ext cx="512064" cy="512064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37176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77256" y="15087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Session &amp; Confirm Payment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77256" y="1801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entry time, duration &amp; fee displayed → admin selects payment method → one click to complete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560320"/>
            <a:ext cx="4206240" cy="914400"/>
          </a:xfrm>
          <a:prstGeom prst="rect">
            <a:avLst/>
          </a:prstGeom>
          <a:solidFill>
            <a:srgbClr val="1A4A2E"/>
          </a:solidFill>
          <a:ln w="12700">
            <a:solidFill>
              <a:srgbClr val="3D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37176" y="2761488"/>
            <a:ext cx="512064" cy="512064"/>
          </a:xfrm>
          <a:prstGeom prst="ellipse">
            <a:avLst/>
          </a:prstGeom>
          <a:solidFill>
            <a:srgbClr val="C5E8D5"/>
          </a:solidFill>
          <a:ln w="12700">
            <a:solidFill>
              <a:srgbClr val="C5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37176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77256" y="26517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Freed &amp; User Notified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77256" y="294436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occupation cleared instantly · User receives 'Session Ended' notification with receipt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A4A2E"/>
          </a:solidFill>
          <a:ln w="12700">
            <a:solidFill>
              <a:srgbClr val="1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PARMS  ·  Smart Parking Management System  ·  Year 3 Computer 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475</Words>
  <Application>Microsoft Office PowerPoint</Application>
  <PresentationFormat>On-screen Show (16:9)</PresentationFormat>
  <Paragraphs>115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PARMS — Smart Parking Management System</dc:title>
  <dc:subject>PptxGenJS Presentation</dc:subject>
  <dc:creator>PARMS Team</dc:creator>
  <cp:lastModifiedBy>cyuzuzo pacifique</cp:lastModifiedBy>
  <cp:revision>3</cp:revision>
  <dcterms:created xsi:type="dcterms:W3CDTF">2026-05-12T12:15:19Z</dcterms:created>
  <dcterms:modified xsi:type="dcterms:W3CDTF">2026-05-12T12:25:50Z</dcterms:modified>
</cp:coreProperties>
</file>